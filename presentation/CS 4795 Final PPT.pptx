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Cormorant Garamond Bold" charset="1" panose="00000800000000000000"/>
      <p:regular r:id="rId24"/>
    </p:embeddedFont>
    <p:embeddedFont>
      <p:font typeface="PT Serif" charset="1" panose="020A0603040505020204"/>
      <p:regular r:id="rId25"/>
    </p:embeddedFont>
    <p:embeddedFont>
      <p:font typeface="PT Serif Bold" charset="1" panose="020A0703040505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6.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409745" y="8121584"/>
            <a:ext cx="505676" cy="505676"/>
          </a:xfrm>
          <a:custGeom>
            <a:avLst/>
            <a:gdLst/>
            <a:ahLst/>
            <a:cxnLst/>
            <a:rect r="r" b="b" t="t" l="l"/>
            <a:pathLst>
              <a:path h="505676" w="505676">
                <a:moveTo>
                  <a:pt x="0" y="0"/>
                </a:moveTo>
                <a:lnTo>
                  <a:pt x="505676" y="0"/>
                </a:lnTo>
                <a:lnTo>
                  <a:pt x="505676" y="505676"/>
                </a:lnTo>
                <a:lnTo>
                  <a:pt x="0" y="5056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9745" y="851241"/>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849371" y="9576839"/>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0771403" y="2620505"/>
            <a:ext cx="6635594" cy="6016530"/>
          </a:xfrm>
          <a:custGeom>
            <a:avLst/>
            <a:gdLst/>
            <a:ahLst/>
            <a:cxnLst/>
            <a:rect r="r" b="b" t="t" l="l"/>
            <a:pathLst>
              <a:path h="6016530" w="6635594">
                <a:moveTo>
                  <a:pt x="0" y="0"/>
                </a:moveTo>
                <a:lnTo>
                  <a:pt x="6635594" y="0"/>
                </a:lnTo>
                <a:lnTo>
                  <a:pt x="6635594" y="6016530"/>
                </a:lnTo>
                <a:lnTo>
                  <a:pt x="0" y="6016530"/>
                </a:lnTo>
                <a:lnTo>
                  <a:pt x="0" y="0"/>
                </a:lnTo>
                <a:close/>
              </a:path>
            </a:pathLst>
          </a:custGeom>
          <a:blipFill>
            <a:blip r:embed="rId11"/>
            <a:stretch>
              <a:fillRect l="0" t="0" r="0" b="0"/>
            </a:stretch>
          </a:blipFill>
        </p:spPr>
      </p:sp>
      <p:sp>
        <p:nvSpPr>
          <p:cNvPr name="TextBox 8" id="8"/>
          <p:cNvSpPr txBox="true"/>
          <p:nvPr/>
        </p:nvSpPr>
        <p:spPr>
          <a:xfrm rot="0">
            <a:off x="1028700" y="2887205"/>
            <a:ext cx="9147860" cy="2991105"/>
          </a:xfrm>
          <a:prstGeom prst="rect">
            <a:avLst/>
          </a:prstGeom>
        </p:spPr>
        <p:txBody>
          <a:bodyPr anchor="t" rtlCol="false" tIns="0" lIns="0" bIns="0" rIns="0">
            <a:spAutoFit/>
          </a:bodyPr>
          <a:lstStyle/>
          <a:p>
            <a:pPr algn="ctr">
              <a:lnSpc>
                <a:spcPts val="11408"/>
              </a:lnSpc>
            </a:pPr>
            <a:r>
              <a:rPr lang="en-US" sz="11883" b="true">
                <a:solidFill>
                  <a:srgbClr val="000000"/>
                </a:solidFill>
                <a:latin typeface="Cormorant Garamond Bold"/>
                <a:ea typeface="Cormorant Garamond Bold"/>
                <a:cs typeface="Cormorant Garamond Bold"/>
                <a:sym typeface="Cormorant Garamond Bold"/>
              </a:rPr>
              <a:t>Fox &amp; Hounds Game</a:t>
            </a:r>
          </a:p>
        </p:txBody>
      </p:sp>
      <p:sp>
        <p:nvSpPr>
          <p:cNvPr name="TextBox 9" id="9"/>
          <p:cNvSpPr txBox="true"/>
          <p:nvPr/>
        </p:nvSpPr>
        <p:spPr>
          <a:xfrm rot="0">
            <a:off x="1409745" y="6256950"/>
            <a:ext cx="8935102" cy="390590"/>
          </a:xfrm>
          <a:prstGeom prst="rect">
            <a:avLst/>
          </a:prstGeom>
        </p:spPr>
        <p:txBody>
          <a:bodyPr anchor="t" rtlCol="false" tIns="0" lIns="0" bIns="0" rIns="0">
            <a:spAutoFit/>
          </a:bodyPr>
          <a:lstStyle/>
          <a:p>
            <a:pPr algn="l">
              <a:lnSpc>
                <a:spcPts val="3203"/>
              </a:lnSpc>
            </a:pPr>
            <a:r>
              <a:rPr lang="en-US" sz="2288">
                <a:solidFill>
                  <a:srgbClr val="000000"/>
                </a:solidFill>
                <a:latin typeface="PT Serif"/>
                <a:ea typeface="PT Serif"/>
                <a:cs typeface="PT Serif"/>
                <a:sym typeface="PT Serif"/>
              </a:rPr>
              <a:t>Presented By: Chanchal Preet Kaur, Fatima Asif, Medha Madhub</a:t>
            </a:r>
          </a:p>
        </p:txBody>
      </p:sp>
      <p:sp>
        <p:nvSpPr>
          <p:cNvPr name="TextBox 10" id="10"/>
          <p:cNvSpPr txBox="true"/>
          <p:nvPr/>
        </p:nvSpPr>
        <p:spPr>
          <a:xfrm rot="0">
            <a:off x="2230150" y="8176001"/>
            <a:ext cx="2926916" cy="349250"/>
          </a:xfrm>
          <a:prstGeom prst="rect">
            <a:avLst/>
          </a:prstGeom>
        </p:spPr>
        <p:txBody>
          <a:bodyPr anchor="t" rtlCol="false" tIns="0" lIns="0" bIns="0" rIns="0">
            <a:spAutoFit/>
          </a:bodyPr>
          <a:lstStyle/>
          <a:p>
            <a:pPr algn="l">
              <a:lnSpc>
                <a:spcPts val="2800"/>
              </a:lnSpc>
            </a:pPr>
            <a:r>
              <a:rPr lang="en-US" sz="2000">
                <a:solidFill>
                  <a:srgbClr val="000000"/>
                </a:solidFill>
                <a:latin typeface="PT Serif"/>
                <a:ea typeface="PT Serif"/>
                <a:cs typeface="PT Serif"/>
                <a:sym typeface="PT Serif"/>
              </a:rPr>
              <a:t>Let’s Get Started</a:t>
            </a:r>
          </a:p>
        </p:txBody>
      </p:sp>
      <p:sp>
        <p:nvSpPr>
          <p:cNvPr name="TextBox 11" id="11"/>
          <p:cNvSpPr txBox="true"/>
          <p:nvPr/>
        </p:nvSpPr>
        <p:spPr>
          <a:xfrm rot="0">
            <a:off x="1970380" y="846756"/>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a:t>
            </a:r>
          </a:p>
        </p:txBody>
      </p:sp>
      <p:sp>
        <p:nvSpPr>
          <p:cNvPr name="TextBox 12" id="12"/>
          <p:cNvSpPr txBox="true"/>
          <p:nvPr/>
        </p:nvSpPr>
        <p:spPr>
          <a:xfrm rot="0">
            <a:off x="13823562" y="820713"/>
            <a:ext cx="3435738"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Artificial Intelligence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02312" y="1363305"/>
            <a:ext cx="7085031"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How to play </a:t>
            </a:r>
          </a:p>
        </p:txBody>
      </p:sp>
      <p:sp>
        <p:nvSpPr>
          <p:cNvPr name="TextBox 5" id="5"/>
          <p:cNvSpPr txBox="true"/>
          <p:nvPr/>
        </p:nvSpPr>
        <p:spPr>
          <a:xfrm rot="0">
            <a:off x="702312" y="2445980"/>
            <a:ext cx="12460257" cy="7356073"/>
          </a:xfrm>
          <a:prstGeom prst="rect">
            <a:avLst/>
          </a:prstGeom>
        </p:spPr>
        <p:txBody>
          <a:bodyPr anchor="t" rtlCol="false" tIns="0" lIns="0" bIns="0" rIns="0">
            <a:spAutoFit/>
          </a:bodyPr>
          <a:lstStyle/>
          <a:p>
            <a:pPr algn="l" marL="572875" indent="-286438" lvl="1">
              <a:lnSpc>
                <a:spcPts val="3714"/>
              </a:lnSpc>
              <a:buFont typeface="Arial"/>
              <a:buChar char="•"/>
            </a:pPr>
            <a:r>
              <a:rPr lang="en-US" sz="2653">
                <a:solidFill>
                  <a:srgbClr val="363336"/>
                </a:solidFill>
                <a:latin typeface="PT Serif"/>
                <a:ea typeface="PT Serif"/>
                <a:cs typeface="PT Serif"/>
                <a:sym typeface="PT Serif"/>
              </a:rPr>
              <a:t>Fox and Hounds is a strategy game played on an 8×8 checkerboard between one fox and four hounds.</a:t>
            </a:r>
          </a:p>
          <a:p>
            <a:pPr algn="l">
              <a:lnSpc>
                <a:spcPts val="3714"/>
              </a:lnSpc>
            </a:pPr>
          </a:p>
          <a:p>
            <a:pPr algn="l" marL="572875" indent="-286438" lvl="1">
              <a:lnSpc>
                <a:spcPts val="3714"/>
              </a:lnSpc>
              <a:buFont typeface="Arial"/>
              <a:buChar char="•"/>
            </a:pPr>
            <a:r>
              <a:rPr lang="en-US" sz="2653">
                <a:solidFill>
                  <a:srgbClr val="363336"/>
                </a:solidFill>
                <a:latin typeface="PT Serif"/>
                <a:ea typeface="PT Serif"/>
                <a:cs typeface="PT Serif"/>
                <a:sym typeface="PT Serif"/>
              </a:rPr>
              <a:t> There are two modes in the game. A player can choose to play either as the fox or as the hounds, while the other player controls the remaining side. </a:t>
            </a:r>
          </a:p>
          <a:p>
            <a:pPr algn="l">
              <a:lnSpc>
                <a:spcPts val="3714"/>
              </a:lnSpc>
            </a:pPr>
          </a:p>
          <a:p>
            <a:pPr algn="l" marL="572875" indent="-286438" lvl="1">
              <a:lnSpc>
                <a:spcPts val="3714"/>
              </a:lnSpc>
              <a:buFont typeface="Arial"/>
              <a:buChar char="•"/>
            </a:pPr>
            <a:r>
              <a:rPr lang="en-US" sz="2653">
                <a:solidFill>
                  <a:srgbClr val="363336"/>
                </a:solidFill>
                <a:latin typeface="PT Serif"/>
                <a:ea typeface="PT Serif"/>
                <a:cs typeface="PT Serif"/>
                <a:sym typeface="PT Serif"/>
              </a:rPr>
              <a:t>At the start, the four hounds are placed on one side of the board and the fox on the opposite side. In this version, the game can start on either the dark or light brown squares.</a:t>
            </a:r>
          </a:p>
          <a:p>
            <a:pPr algn="l">
              <a:lnSpc>
                <a:spcPts val="3714"/>
              </a:lnSpc>
            </a:pPr>
          </a:p>
          <a:p>
            <a:pPr algn="l" marL="572875" indent="-286438" lvl="1">
              <a:lnSpc>
                <a:spcPts val="3714"/>
              </a:lnSpc>
              <a:buFont typeface="Arial"/>
              <a:buChar char="•"/>
            </a:pPr>
            <a:r>
              <a:rPr lang="en-US" sz="2653">
                <a:solidFill>
                  <a:srgbClr val="363336"/>
                </a:solidFill>
                <a:latin typeface="PT Serif"/>
                <a:ea typeface="PT Serif"/>
                <a:cs typeface="PT Serif"/>
                <a:sym typeface="PT Serif"/>
              </a:rPr>
              <a:t>All pieces move diagonally one square at a time. The hounds can only move forward, while the fox can move forward and backward. </a:t>
            </a:r>
          </a:p>
          <a:p>
            <a:pPr algn="l">
              <a:lnSpc>
                <a:spcPts val="3714"/>
              </a:lnSpc>
            </a:pPr>
          </a:p>
          <a:p>
            <a:pPr algn="l" marL="572875" indent="-286438" lvl="1">
              <a:lnSpc>
                <a:spcPts val="3714"/>
              </a:lnSpc>
              <a:buFont typeface="Arial"/>
              <a:buChar char="•"/>
            </a:pPr>
            <a:r>
              <a:rPr lang="en-US" sz="2653">
                <a:solidFill>
                  <a:srgbClr val="363336"/>
                </a:solidFill>
                <a:latin typeface="PT Serif"/>
                <a:ea typeface="PT Serif"/>
                <a:cs typeface="PT Serif"/>
                <a:sym typeface="PT Serif"/>
              </a:rPr>
              <a:t>The fox wins by reaching the opposite side of the board, while the hounds win by trapping the fox so it cannot move</a:t>
            </a:r>
          </a:p>
          <a:p>
            <a:pPr algn="l">
              <a:lnSpc>
                <a:spcPts val="2857"/>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3394936" y="3585930"/>
            <a:ext cx="4672046" cy="4666206"/>
          </a:xfrm>
          <a:custGeom>
            <a:avLst/>
            <a:gdLst/>
            <a:ahLst/>
            <a:cxnLst/>
            <a:rect r="r" b="b" t="t" l="l"/>
            <a:pathLst>
              <a:path h="4666206" w="4672046">
                <a:moveTo>
                  <a:pt x="0" y="0"/>
                </a:moveTo>
                <a:lnTo>
                  <a:pt x="4672046" y="0"/>
                </a:lnTo>
                <a:lnTo>
                  <a:pt x="4672046" y="4666206"/>
                </a:lnTo>
                <a:lnTo>
                  <a:pt x="0" y="4666206"/>
                </a:lnTo>
                <a:lnTo>
                  <a:pt x="0" y="0"/>
                </a:lnTo>
                <a:close/>
              </a:path>
            </a:pathLst>
          </a:custGeom>
          <a:blipFill>
            <a:blip r:embed="rId9"/>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826440" y="1784508"/>
            <a:ext cx="12635120" cy="920750"/>
          </a:xfrm>
          <a:prstGeom prst="rect">
            <a:avLst/>
          </a:prstGeom>
        </p:spPr>
        <p:txBody>
          <a:bodyPr anchor="t" rtlCol="false" tIns="0" lIns="0" bIns="0" rIns="0">
            <a:spAutoFit/>
          </a:bodyPr>
          <a:lstStyle/>
          <a:p>
            <a:pPr algn="ctr">
              <a:lnSpc>
                <a:spcPts val="7150"/>
              </a:lnSpc>
            </a:pPr>
            <a:r>
              <a:rPr lang="en-US" sz="6500" b="true">
                <a:solidFill>
                  <a:srgbClr val="000000"/>
                </a:solidFill>
                <a:latin typeface="Cormorant Garamond Bold"/>
                <a:ea typeface="Cormorant Garamond Bold"/>
                <a:cs typeface="Cormorant Garamond Bold"/>
                <a:sym typeface="Cormorant Garamond Bold"/>
              </a:rPr>
              <a:t>Project Goal</a:t>
            </a:r>
          </a:p>
        </p:txBody>
      </p:sp>
      <p:sp>
        <p:nvSpPr>
          <p:cNvPr name="TextBox 4" id="4"/>
          <p:cNvSpPr txBox="true"/>
          <p:nvPr/>
        </p:nvSpPr>
        <p:spPr>
          <a:xfrm rot="0">
            <a:off x="3739509" y="3983495"/>
            <a:ext cx="10767279" cy="1002665"/>
          </a:xfrm>
          <a:prstGeom prst="rect">
            <a:avLst/>
          </a:prstGeom>
        </p:spPr>
        <p:txBody>
          <a:bodyPr anchor="t" rtlCol="false" tIns="0" lIns="0" bIns="0" rIns="0">
            <a:spAutoFit/>
          </a:bodyPr>
          <a:lstStyle/>
          <a:p>
            <a:pPr algn="ctr">
              <a:lnSpc>
                <a:spcPts val="4060"/>
              </a:lnSpc>
            </a:pPr>
            <a:r>
              <a:rPr lang="en-US" sz="2900">
                <a:solidFill>
                  <a:srgbClr val="363336"/>
                </a:solidFill>
                <a:latin typeface="PT Serif"/>
                <a:ea typeface="PT Serif"/>
                <a:cs typeface="PT Serif"/>
                <a:sym typeface="PT Serif"/>
              </a:rPr>
              <a:t>To build an AI agent that can intelligently play Fox and Hounds using adversarial search.</a:t>
            </a:r>
          </a:p>
        </p:txBody>
      </p:sp>
      <p:sp>
        <p:nvSpPr>
          <p:cNvPr name="AutoShape 5" id="5"/>
          <p:cNvSpPr/>
          <p:nvPr/>
        </p:nvSpPr>
        <p:spPr>
          <a:xfrm>
            <a:off x="8080546" y="3411995"/>
            <a:ext cx="2126908" cy="0"/>
          </a:xfrm>
          <a:prstGeom prst="line">
            <a:avLst/>
          </a:prstGeom>
          <a:ln cap="flat" w="38100">
            <a:solidFill>
              <a:srgbClr val="90816A"/>
            </a:solidFill>
            <a:prstDash val="solid"/>
            <a:headEnd type="none" len="sm" w="sm"/>
            <a:tailEnd type="none" len="sm" w="sm"/>
          </a:ln>
        </p:spPr>
      </p:sp>
      <p:grpSp>
        <p:nvGrpSpPr>
          <p:cNvPr name="Group 6" id="6"/>
          <p:cNvGrpSpPr/>
          <p:nvPr/>
        </p:nvGrpSpPr>
        <p:grpSpPr>
          <a:xfrm rot="0">
            <a:off x="1653805" y="5553379"/>
            <a:ext cx="4463010" cy="3086100"/>
            <a:chOff x="0" y="0"/>
            <a:chExt cx="1175443" cy="812800"/>
          </a:xfrm>
        </p:grpSpPr>
        <p:sp>
          <p:nvSpPr>
            <p:cNvPr name="Freeform 7" id="7"/>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8" id="8"/>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sp>
        <p:nvSpPr>
          <p:cNvPr name="TextBox 9" id="9"/>
          <p:cNvSpPr txBox="true"/>
          <p:nvPr/>
        </p:nvSpPr>
        <p:spPr>
          <a:xfrm rot="0">
            <a:off x="2327650" y="6896404"/>
            <a:ext cx="3115320" cy="428625"/>
          </a:xfrm>
          <a:prstGeom prst="rect">
            <a:avLst/>
          </a:prstGeom>
        </p:spPr>
        <p:txBody>
          <a:bodyPr anchor="t" rtlCol="false" tIns="0" lIns="0" bIns="0" rIns="0">
            <a:spAutoFit/>
          </a:bodyPr>
          <a:lstStyle/>
          <a:p>
            <a:pPr algn="ctr">
              <a:lnSpc>
                <a:spcPts val="3300"/>
              </a:lnSpc>
            </a:pPr>
            <a:r>
              <a:rPr lang="en-US" sz="3000">
                <a:solidFill>
                  <a:srgbClr val="000000"/>
                </a:solidFill>
                <a:latin typeface="PT Serif"/>
                <a:ea typeface="PT Serif"/>
                <a:cs typeface="PT Serif"/>
                <a:sym typeface="PT Serif"/>
              </a:rPr>
              <a:t>Minimax</a:t>
            </a:r>
          </a:p>
        </p:txBody>
      </p:sp>
      <p:grpSp>
        <p:nvGrpSpPr>
          <p:cNvPr name="Group 10" id="10"/>
          <p:cNvGrpSpPr/>
          <p:nvPr/>
        </p:nvGrpSpPr>
        <p:grpSpPr>
          <a:xfrm rot="0">
            <a:off x="6891644" y="5553379"/>
            <a:ext cx="4463010" cy="3086100"/>
            <a:chOff x="0" y="0"/>
            <a:chExt cx="1175443" cy="812800"/>
          </a:xfrm>
        </p:grpSpPr>
        <p:sp>
          <p:nvSpPr>
            <p:cNvPr name="Freeform 11" id="11"/>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12" id="12"/>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grpSp>
        <p:nvGrpSpPr>
          <p:cNvPr name="Group 13" id="13"/>
          <p:cNvGrpSpPr/>
          <p:nvPr/>
        </p:nvGrpSpPr>
        <p:grpSpPr>
          <a:xfrm rot="0">
            <a:off x="12167932" y="5553379"/>
            <a:ext cx="4463010" cy="3086100"/>
            <a:chOff x="0" y="0"/>
            <a:chExt cx="1175443" cy="812800"/>
          </a:xfrm>
        </p:grpSpPr>
        <p:sp>
          <p:nvSpPr>
            <p:cNvPr name="Freeform 14" id="14"/>
            <p:cNvSpPr/>
            <p:nvPr/>
          </p:nvSpPr>
          <p:spPr>
            <a:xfrm flipH="false" flipV="false" rot="0">
              <a:off x="0" y="0"/>
              <a:ext cx="1175443" cy="812800"/>
            </a:xfrm>
            <a:custGeom>
              <a:avLst/>
              <a:gdLst/>
              <a:ahLst/>
              <a:cxnLst/>
              <a:rect r="r" b="b" t="t" l="l"/>
              <a:pathLst>
                <a:path h="812800" w="1175443">
                  <a:moveTo>
                    <a:pt x="64183" y="0"/>
                  </a:moveTo>
                  <a:lnTo>
                    <a:pt x="1111259" y="0"/>
                  </a:lnTo>
                  <a:cubicBezTo>
                    <a:pt x="1128282" y="0"/>
                    <a:pt x="1144607" y="6762"/>
                    <a:pt x="1156644" y="18799"/>
                  </a:cubicBezTo>
                  <a:cubicBezTo>
                    <a:pt x="1168681" y="30836"/>
                    <a:pt x="1175443" y="47161"/>
                    <a:pt x="1175443" y="64183"/>
                  </a:cubicBezTo>
                  <a:lnTo>
                    <a:pt x="1175443" y="748617"/>
                  </a:lnTo>
                  <a:cubicBezTo>
                    <a:pt x="1175443" y="765639"/>
                    <a:pt x="1168681" y="781964"/>
                    <a:pt x="1156644" y="794001"/>
                  </a:cubicBezTo>
                  <a:cubicBezTo>
                    <a:pt x="1144607" y="806038"/>
                    <a:pt x="1128282" y="812800"/>
                    <a:pt x="1111259" y="812800"/>
                  </a:cubicBezTo>
                  <a:lnTo>
                    <a:pt x="64183" y="812800"/>
                  </a:lnTo>
                  <a:cubicBezTo>
                    <a:pt x="47161" y="812800"/>
                    <a:pt x="30836" y="806038"/>
                    <a:pt x="18799" y="794001"/>
                  </a:cubicBezTo>
                  <a:cubicBezTo>
                    <a:pt x="6762" y="781964"/>
                    <a:pt x="0" y="765639"/>
                    <a:pt x="0" y="748617"/>
                  </a:cubicBezTo>
                  <a:lnTo>
                    <a:pt x="0" y="64183"/>
                  </a:lnTo>
                  <a:cubicBezTo>
                    <a:pt x="0" y="47161"/>
                    <a:pt x="6762" y="30836"/>
                    <a:pt x="18799" y="18799"/>
                  </a:cubicBezTo>
                  <a:cubicBezTo>
                    <a:pt x="30836" y="6762"/>
                    <a:pt x="47161" y="0"/>
                    <a:pt x="64183" y="0"/>
                  </a:cubicBezTo>
                  <a:close/>
                </a:path>
              </a:pathLst>
            </a:custGeom>
            <a:ln w="19050" cap="rnd">
              <a:solidFill>
                <a:srgbClr val="363336"/>
              </a:solidFill>
              <a:prstDash val="solid"/>
              <a:round/>
            </a:ln>
          </p:spPr>
        </p:sp>
        <p:sp>
          <p:nvSpPr>
            <p:cNvPr name="TextBox 15" id="15"/>
            <p:cNvSpPr txBox="true"/>
            <p:nvPr/>
          </p:nvSpPr>
          <p:spPr>
            <a:xfrm>
              <a:off x="0" y="19050"/>
              <a:ext cx="1175443" cy="793750"/>
            </a:xfrm>
            <a:prstGeom prst="rect">
              <a:avLst/>
            </a:prstGeom>
          </p:spPr>
          <p:txBody>
            <a:bodyPr anchor="ctr" rtlCol="false" tIns="50800" lIns="50800" bIns="50800" rIns="50800"/>
            <a:lstStyle/>
            <a:p>
              <a:pPr algn="ctr">
                <a:lnSpc>
                  <a:spcPts val="2530"/>
                </a:lnSpc>
              </a:pPr>
            </a:p>
          </p:txBody>
        </p:sp>
      </p:grpSp>
      <p:sp>
        <p:nvSpPr>
          <p:cNvPr name="Freeform 16" id="16"/>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a:t>
            </a:r>
          </a:p>
        </p:txBody>
      </p:sp>
      <p:sp>
        <p:nvSpPr>
          <p:cNvPr name="TextBox 18" id="18"/>
          <p:cNvSpPr txBox="true"/>
          <p:nvPr/>
        </p:nvSpPr>
        <p:spPr>
          <a:xfrm rot="0">
            <a:off x="13442517" y="741838"/>
            <a:ext cx="411392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grpSp>
        <p:nvGrpSpPr>
          <p:cNvPr name="Group 19" id="19"/>
          <p:cNvGrpSpPr/>
          <p:nvPr/>
        </p:nvGrpSpPr>
        <p:grpSpPr>
          <a:xfrm rot="0">
            <a:off x="3450774" y="5230868"/>
            <a:ext cx="869072" cy="86907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21" id="21"/>
            <p:cNvSpPr txBox="true"/>
            <p:nvPr/>
          </p:nvSpPr>
          <p:spPr>
            <a:xfrm>
              <a:off x="76200" y="95250"/>
              <a:ext cx="660400" cy="641350"/>
            </a:xfrm>
            <a:prstGeom prst="rect">
              <a:avLst/>
            </a:prstGeom>
          </p:spPr>
          <p:txBody>
            <a:bodyPr anchor="ctr" rtlCol="false" tIns="50800" lIns="50800" bIns="50800" rIns="50800"/>
            <a:lstStyle/>
            <a:p>
              <a:pPr algn="ctr">
                <a:lnSpc>
                  <a:spcPts val="2530"/>
                </a:lnSpc>
              </a:pPr>
            </a:p>
          </p:txBody>
        </p:sp>
      </p:grpSp>
      <p:grpSp>
        <p:nvGrpSpPr>
          <p:cNvPr name="Group 22" id="22"/>
          <p:cNvGrpSpPr/>
          <p:nvPr/>
        </p:nvGrpSpPr>
        <p:grpSpPr>
          <a:xfrm rot="0">
            <a:off x="8709464" y="5230868"/>
            <a:ext cx="869072" cy="86907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24" id="24"/>
            <p:cNvSpPr txBox="true"/>
            <p:nvPr/>
          </p:nvSpPr>
          <p:spPr>
            <a:xfrm>
              <a:off x="76200" y="95250"/>
              <a:ext cx="660400" cy="641350"/>
            </a:xfrm>
            <a:prstGeom prst="rect">
              <a:avLst/>
            </a:prstGeom>
          </p:spPr>
          <p:txBody>
            <a:bodyPr anchor="ctr" rtlCol="false" tIns="50800" lIns="50800" bIns="50800" rIns="50800"/>
            <a:lstStyle/>
            <a:p>
              <a:pPr algn="ctr">
                <a:lnSpc>
                  <a:spcPts val="2530"/>
                </a:lnSpc>
              </a:pPr>
            </a:p>
          </p:txBody>
        </p:sp>
      </p:grpSp>
      <p:grpSp>
        <p:nvGrpSpPr>
          <p:cNvPr name="Group 25" id="25"/>
          <p:cNvGrpSpPr/>
          <p:nvPr/>
        </p:nvGrpSpPr>
        <p:grpSpPr>
          <a:xfrm rot="0">
            <a:off x="13964901" y="5230868"/>
            <a:ext cx="869072" cy="86907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sp>
        <p:sp>
          <p:nvSpPr>
            <p:cNvPr name="TextBox 27" id="27"/>
            <p:cNvSpPr txBox="true"/>
            <p:nvPr/>
          </p:nvSpPr>
          <p:spPr>
            <a:xfrm>
              <a:off x="76200" y="95250"/>
              <a:ext cx="660400" cy="641350"/>
            </a:xfrm>
            <a:prstGeom prst="rect">
              <a:avLst/>
            </a:prstGeom>
          </p:spPr>
          <p:txBody>
            <a:bodyPr anchor="ctr" rtlCol="false" tIns="50800" lIns="50800" bIns="50800" rIns="50800"/>
            <a:lstStyle/>
            <a:p>
              <a:pPr algn="ctr">
                <a:lnSpc>
                  <a:spcPts val="2530"/>
                </a:lnSpc>
              </a:pPr>
            </a:p>
          </p:txBody>
        </p:sp>
      </p:grpSp>
      <p:sp>
        <p:nvSpPr>
          <p:cNvPr name="TextBox 28" id="28"/>
          <p:cNvSpPr txBox="true"/>
          <p:nvPr/>
        </p:nvSpPr>
        <p:spPr>
          <a:xfrm rot="0">
            <a:off x="3593604" y="5512670"/>
            <a:ext cx="583412" cy="324485"/>
          </a:xfrm>
          <a:prstGeom prst="rect">
            <a:avLst/>
          </a:prstGeom>
        </p:spPr>
        <p:txBody>
          <a:bodyPr anchor="t" rtlCol="false" tIns="0" lIns="0" bIns="0" rIns="0">
            <a:spAutoFit/>
          </a:bodyPr>
          <a:lstStyle/>
          <a:p>
            <a:pPr algn="ctr">
              <a:lnSpc>
                <a:spcPts val="2530"/>
              </a:lnSpc>
            </a:pPr>
            <a:r>
              <a:rPr lang="en-US" sz="2300">
                <a:solidFill>
                  <a:srgbClr val="000000"/>
                </a:solidFill>
                <a:latin typeface="PT Serif"/>
                <a:ea typeface="PT Serif"/>
                <a:cs typeface="PT Serif"/>
                <a:sym typeface="PT Serif"/>
              </a:rPr>
              <a:t>01</a:t>
            </a:r>
          </a:p>
        </p:txBody>
      </p:sp>
      <p:sp>
        <p:nvSpPr>
          <p:cNvPr name="TextBox 29" id="29"/>
          <p:cNvSpPr txBox="true"/>
          <p:nvPr/>
        </p:nvSpPr>
        <p:spPr>
          <a:xfrm rot="0">
            <a:off x="8852294" y="5512670"/>
            <a:ext cx="583412" cy="324485"/>
          </a:xfrm>
          <a:prstGeom prst="rect">
            <a:avLst/>
          </a:prstGeom>
        </p:spPr>
        <p:txBody>
          <a:bodyPr anchor="t" rtlCol="false" tIns="0" lIns="0" bIns="0" rIns="0">
            <a:spAutoFit/>
          </a:bodyPr>
          <a:lstStyle/>
          <a:p>
            <a:pPr algn="ctr">
              <a:lnSpc>
                <a:spcPts val="2530"/>
              </a:lnSpc>
            </a:pPr>
            <a:r>
              <a:rPr lang="en-US" sz="2300">
                <a:solidFill>
                  <a:srgbClr val="000000"/>
                </a:solidFill>
                <a:latin typeface="PT Serif"/>
                <a:ea typeface="PT Serif"/>
                <a:cs typeface="PT Serif"/>
                <a:sym typeface="PT Serif"/>
              </a:rPr>
              <a:t>02</a:t>
            </a:r>
          </a:p>
        </p:txBody>
      </p:sp>
      <p:sp>
        <p:nvSpPr>
          <p:cNvPr name="TextBox 30" id="30"/>
          <p:cNvSpPr txBox="true"/>
          <p:nvPr/>
        </p:nvSpPr>
        <p:spPr>
          <a:xfrm rot="0">
            <a:off x="14107731" y="5512670"/>
            <a:ext cx="583412" cy="324485"/>
          </a:xfrm>
          <a:prstGeom prst="rect">
            <a:avLst/>
          </a:prstGeom>
        </p:spPr>
        <p:txBody>
          <a:bodyPr anchor="t" rtlCol="false" tIns="0" lIns="0" bIns="0" rIns="0">
            <a:spAutoFit/>
          </a:bodyPr>
          <a:lstStyle/>
          <a:p>
            <a:pPr algn="ctr">
              <a:lnSpc>
                <a:spcPts val="2530"/>
              </a:lnSpc>
            </a:pPr>
            <a:r>
              <a:rPr lang="en-US" sz="2300">
                <a:solidFill>
                  <a:srgbClr val="000000"/>
                </a:solidFill>
                <a:latin typeface="PT Serif"/>
                <a:ea typeface="PT Serif"/>
                <a:cs typeface="PT Serif"/>
                <a:sym typeface="PT Serif"/>
              </a:rPr>
              <a:t>03</a:t>
            </a:r>
          </a:p>
        </p:txBody>
      </p:sp>
      <p:sp>
        <p:nvSpPr>
          <p:cNvPr name="Freeform 31" id="31"/>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2" id="32"/>
          <p:cNvSpPr/>
          <p:nvPr/>
        </p:nvSpPr>
        <p:spPr>
          <a:xfrm flipH="false" flipV="false" rot="0">
            <a:off x="1364364" y="2063293"/>
            <a:ext cx="1045375" cy="296506"/>
          </a:xfrm>
          <a:custGeom>
            <a:avLst/>
            <a:gdLst/>
            <a:ahLst/>
            <a:cxnLst/>
            <a:rect r="r" b="b" t="t" l="l"/>
            <a:pathLst>
              <a:path h="296506" w="1045375">
                <a:moveTo>
                  <a:pt x="0" y="0"/>
                </a:moveTo>
                <a:lnTo>
                  <a:pt x="1045376" y="0"/>
                </a:lnTo>
                <a:lnTo>
                  <a:pt x="1045376"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3" id="33"/>
          <p:cNvSpPr txBox="true"/>
          <p:nvPr/>
        </p:nvSpPr>
        <p:spPr>
          <a:xfrm rot="0">
            <a:off x="7586340" y="6814315"/>
            <a:ext cx="3115320" cy="847725"/>
          </a:xfrm>
          <a:prstGeom prst="rect">
            <a:avLst/>
          </a:prstGeom>
        </p:spPr>
        <p:txBody>
          <a:bodyPr anchor="t" rtlCol="false" tIns="0" lIns="0" bIns="0" rIns="0">
            <a:spAutoFit/>
          </a:bodyPr>
          <a:lstStyle/>
          <a:p>
            <a:pPr algn="ctr">
              <a:lnSpc>
                <a:spcPts val="3300"/>
              </a:lnSpc>
            </a:pPr>
            <a:r>
              <a:rPr lang="en-US" sz="3000">
                <a:solidFill>
                  <a:srgbClr val="000000"/>
                </a:solidFill>
                <a:latin typeface="PT Serif"/>
                <a:ea typeface="PT Serif"/>
                <a:cs typeface="PT Serif"/>
                <a:sym typeface="PT Serif"/>
              </a:rPr>
              <a:t>Alpha-Beta pruning</a:t>
            </a:r>
          </a:p>
        </p:txBody>
      </p:sp>
      <p:sp>
        <p:nvSpPr>
          <p:cNvPr name="TextBox 34" id="34"/>
          <p:cNvSpPr txBox="true"/>
          <p:nvPr/>
        </p:nvSpPr>
        <p:spPr>
          <a:xfrm rot="0">
            <a:off x="12841777" y="6604765"/>
            <a:ext cx="3115320" cy="1266825"/>
          </a:xfrm>
          <a:prstGeom prst="rect">
            <a:avLst/>
          </a:prstGeom>
        </p:spPr>
        <p:txBody>
          <a:bodyPr anchor="t" rtlCol="false" tIns="0" lIns="0" bIns="0" rIns="0">
            <a:spAutoFit/>
          </a:bodyPr>
          <a:lstStyle/>
          <a:p>
            <a:pPr algn="ctr">
              <a:lnSpc>
                <a:spcPts val="3300"/>
              </a:lnSpc>
            </a:pPr>
            <a:r>
              <a:rPr lang="en-US" sz="3000">
                <a:solidFill>
                  <a:srgbClr val="000000"/>
                </a:solidFill>
                <a:latin typeface="PT Serif"/>
                <a:ea typeface="PT Serif"/>
                <a:cs typeface="PT Serif"/>
                <a:sym typeface="PT Serif"/>
              </a:rPr>
              <a:t>Heuristic evaluation function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69938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State Of The Art VS Our Approach</a:t>
            </a:r>
          </a:p>
        </p:txBody>
      </p:sp>
      <p:sp>
        <p:nvSpPr>
          <p:cNvPr name="TextBox 5" id="5"/>
          <p:cNvSpPr txBox="true"/>
          <p:nvPr/>
        </p:nvSpPr>
        <p:spPr>
          <a:xfrm rot="0">
            <a:off x="1028700" y="2952984"/>
            <a:ext cx="9763836" cy="6581140"/>
          </a:xfrm>
          <a:prstGeom prst="rect">
            <a:avLst/>
          </a:prstGeom>
        </p:spPr>
        <p:txBody>
          <a:bodyPr anchor="t" rtlCol="false" tIns="0" lIns="0" bIns="0" rIns="0">
            <a:spAutoFit/>
          </a:bodyPr>
          <a:lstStyle/>
          <a:p>
            <a:pPr algn="l">
              <a:lnSpc>
                <a:spcPts val="4759"/>
              </a:lnSpc>
            </a:pPr>
            <a:r>
              <a:rPr lang="en-US" sz="3399" b="true">
                <a:solidFill>
                  <a:srgbClr val="363336"/>
                </a:solidFill>
                <a:latin typeface="PT Serif Bold"/>
                <a:ea typeface="PT Serif Bold"/>
                <a:cs typeface="PT Serif Bold"/>
                <a:sym typeface="PT Serif Bold"/>
              </a:rPr>
              <a:t>State-of-the-art AI uses: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deep search </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advanced heuristics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learning-based methods</a:t>
            </a:r>
          </a:p>
          <a:p>
            <a:pPr algn="l">
              <a:lnSpc>
                <a:spcPts val="4759"/>
              </a:lnSpc>
            </a:pPr>
            <a:r>
              <a:rPr lang="en-US" sz="3399" b="true">
                <a:solidFill>
                  <a:srgbClr val="363336"/>
                </a:solidFill>
                <a:latin typeface="PT Serif Bold"/>
                <a:ea typeface="PT Serif Bold"/>
                <a:cs typeface="PT Serif Bold"/>
                <a:sym typeface="PT Serif Bold"/>
              </a:rPr>
              <a:t>Our implementation:</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Minimax with Alpha-Beta pruning</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heuristic evaluation function</a:t>
            </a:r>
          </a:p>
          <a:p>
            <a:pPr algn="l">
              <a:lnSpc>
                <a:spcPts val="4759"/>
              </a:lnSpc>
            </a:pPr>
            <a:r>
              <a:rPr lang="en-US" sz="3399" b="true">
                <a:solidFill>
                  <a:srgbClr val="363336"/>
                </a:solidFill>
                <a:latin typeface="PT Serif Bold"/>
                <a:ea typeface="PT Serif Bold"/>
                <a:cs typeface="PT Serif Bold"/>
                <a:sym typeface="PT Serif Bold"/>
              </a:rPr>
              <a:t>Focus was on balancing:</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Speed</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decision quality</a:t>
            </a: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69938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Game Implementation</a:t>
            </a:r>
          </a:p>
        </p:txBody>
      </p:sp>
      <p:sp>
        <p:nvSpPr>
          <p:cNvPr name="TextBox 5" id="5"/>
          <p:cNvSpPr txBox="true"/>
          <p:nvPr/>
        </p:nvSpPr>
        <p:spPr>
          <a:xfrm rot="0">
            <a:off x="1028700" y="2952984"/>
            <a:ext cx="13497759" cy="5981065"/>
          </a:xfrm>
          <a:prstGeom prst="rect">
            <a:avLst/>
          </a:prstGeom>
        </p:spPr>
        <p:txBody>
          <a:bodyPr anchor="t" rtlCol="false" tIns="0" lIns="0" bIns="0" rIns="0">
            <a:spAutoFit/>
          </a:bodyPr>
          <a:lstStyle/>
          <a:p>
            <a:pPr algn="l" marL="734056" indent="-367028" lvl="1">
              <a:lnSpc>
                <a:spcPts val="4759"/>
              </a:lnSpc>
              <a:buFont typeface="Arial"/>
              <a:buChar char="•"/>
            </a:pPr>
            <a:r>
              <a:rPr lang="en-US" sz="3399">
                <a:solidFill>
                  <a:srgbClr val="363336"/>
                </a:solidFill>
                <a:latin typeface="PT Serif"/>
                <a:ea typeface="PT Serif"/>
                <a:cs typeface="PT Serif"/>
                <a:sym typeface="PT Serif"/>
              </a:rPr>
              <a:t>Built using Python + Pygame for an interactive experience</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Built an interactive GUI-based board system</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Designed a dynamic menu and control interface</a:t>
            </a:r>
          </a:p>
          <a:p>
            <a:pPr algn="l" marL="734056" indent="-367028" lvl="1">
              <a:lnSpc>
                <a:spcPts val="4759"/>
              </a:lnSpc>
              <a:buFont typeface="Arial"/>
              <a:buChar char="•"/>
            </a:pPr>
            <a:r>
              <a:rPr lang="en-US" b="true" sz="3399">
                <a:solidFill>
                  <a:srgbClr val="363336"/>
                </a:solidFill>
                <a:latin typeface="PT Serif Bold"/>
                <a:ea typeface="PT Serif Bold"/>
                <a:cs typeface="PT Serif Bold"/>
                <a:sym typeface="PT Serif Bold"/>
              </a:rPr>
              <a:t>Developed:</a:t>
            </a:r>
          </a:p>
          <a:p>
            <a:pPr algn="l" marL="1468112" indent="-489371" lvl="2">
              <a:lnSpc>
                <a:spcPts val="4759"/>
              </a:lnSpc>
              <a:buFont typeface="Arial"/>
              <a:buChar char="⚬"/>
            </a:pPr>
            <a:r>
              <a:rPr lang="en-US" sz="3399">
                <a:solidFill>
                  <a:srgbClr val="363336"/>
                </a:solidFill>
                <a:latin typeface="PT Serif"/>
                <a:ea typeface="PT Serif"/>
                <a:cs typeface="PT Serif"/>
                <a:sym typeface="PT Serif"/>
              </a:rPr>
              <a:t>rule-based legal move generation system</a:t>
            </a:r>
          </a:p>
          <a:p>
            <a:pPr algn="l" marL="1468112" indent="-489371" lvl="2">
              <a:lnSpc>
                <a:spcPts val="4759"/>
              </a:lnSpc>
              <a:buFont typeface="Arial"/>
              <a:buChar char="⚬"/>
            </a:pPr>
            <a:r>
              <a:rPr lang="en-US" sz="3399">
                <a:solidFill>
                  <a:srgbClr val="363336"/>
                </a:solidFill>
                <a:latin typeface="PT Serif"/>
                <a:ea typeface="PT Serif"/>
                <a:cs typeface="PT Serif"/>
                <a:sym typeface="PT Serif"/>
              </a:rPr>
              <a:t>turn management logic</a:t>
            </a:r>
          </a:p>
          <a:p>
            <a:pPr algn="l" marL="1468112" indent="-489371" lvl="2">
              <a:lnSpc>
                <a:spcPts val="4759"/>
              </a:lnSpc>
              <a:buFont typeface="Arial"/>
              <a:buChar char="⚬"/>
            </a:pPr>
            <a:r>
              <a:rPr lang="en-US" sz="3399">
                <a:solidFill>
                  <a:srgbClr val="363336"/>
                </a:solidFill>
                <a:latin typeface="PT Serif"/>
                <a:ea typeface="PT Serif"/>
                <a:cs typeface="PT Serif"/>
                <a:sym typeface="PT Serif"/>
              </a:rPr>
              <a:t>win condition detection</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Integrated smooth animations for improved user experience</a:t>
            </a:r>
          </a:p>
          <a:p>
            <a:pPr algn="l">
              <a:lnSpc>
                <a:spcPts val="4759"/>
              </a:lnSpc>
            </a:pP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92212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Evaluation Function</a:t>
            </a:r>
          </a:p>
        </p:txBody>
      </p:sp>
      <p:sp>
        <p:nvSpPr>
          <p:cNvPr name="TextBox 5" id="5"/>
          <p:cNvSpPr txBox="true"/>
          <p:nvPr/>
        </p:nvSpPr>
        <p:spPr>
          <a:xfrm rot="0">
            <a:off x="1028700" y="3277235"/>
            <a:ext cx="12413817" cy="5981065"/>
          </a:xfrm>
          <a:prstGeom prst="rect">
            <a:avLst/>
          </a:prstGeom>
        </p:spPr>
        <p:txBody>
          <a:bodyPr anchor="t" rtlCol="false" tIns="0" lIns="0" bIns="0" rIns="0">
            <a:spAutoFit/>
          </a:bodyPr>
          <a:lstStyle/>
          <a:p>
            <a:pPr algn="l">
              <a:lnSpc>
                <a:spcPts val="4759"/>
              </a:lnSpc>
            </a:pPr>
            <a:r>
              <a:rPr lang="en-US" sz="3399" b="true">
                <a:solidFill>
                  <a:srgbClr val="363336"/>
                </a:solidFill>
                <a:latin typeface="PT Serif Bold"/>
                <a:ea typeface="PT Serif Bold"/>
                <a:cs typeface="PT Serif Bold"/>
                <a:sym typeface="PT Serif Bold"/>
              </a:rPr>
              <a:t>Evaluation Function</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A heuristic function used to evaluate non-terminal states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Guides the Minimax algorithm at limited search depth</a:t>
            </a:r>
          </a:p>
          <a:p>
            <a:pPr algn="l">
              <a:lnSpc>
                <a:spcPts val="4759"/>
              </a:lnSpc>
            </a:pPr>
            <a:r>
              <a:rPr lang="en-US" sz="3399" b="true">
                <a:solidFill>
                  <a:srgbClr val="363336"/>
                </a:solidFill>
                <a:latin typeface="PT Serif Bold"/>
                <a:ea typeface="PT Serif Bold"/>
                <a:cs typeface="PT Serif Bold"/>
                <a:sym typeface="PT Serif Bold"/>
              </a:rPr>
              <a:t>Features used:</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Fox progress toward winning</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Mobility of the fox</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Strategic positioning of hounds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Distance-based pressure on the fox</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Trap detection for near-winning states</a:t>
            </a: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69938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Why we chose this approach</a:t>
            </a:r>
          </a:p>
        </p:txBody>
      </p:sp>
      <p:sp>
        <p:nvSpPr>
          <p:cNvPr name="TextBox 5" id="5"/>
          <p:cNvSpPr txBox="true"/>
          <p:nvPr/>
        </p:nvSpPr>
        <p:spPr>
          <a:xfrm rot="0">
            <a:off x="1028700" y="2952984"/>
            <a:ext cx="11650461" cy="5380990"/>
          </a:xfrm>
          <a:prstGeom prst="rect">
            <a:avLst/>
          </a:prstGeom>
        </p:spPr>
        <p:txBody>
          <a:bodyPr anchor="t" rtlCol="false" tIns="0" lIns="0" bIns="0" rIns="0">
            <a:spAutoFit/>
          </a:bodyPr>
          <a:lstStyle/>
          <a:p>
            <a:pPr algn="l">
              <a:lnSpc>
                <a:spcPts val="4759"/>
              </a:lnSpc>
            </a:pPr>
            <a:r>
              <a:rPr lang="en-US" sz="3399">
                <a:solidFill>
                  <a:srgbClr val="363336"/>
                </a:solidFill>
                <a:latin typeface="PT Serif"/>
                <a:ea typeface="PT Serif"/>
                <a:cs typeface="PT Serif"/>
                <a:sym typeface="PT Serif"/>
              </a:rPr>
              <a:t>Fox and Hounds is a strategic adversarial game</a:t>
            </a:r>
          </a:p>
          <a:p>
            <a:pPr algn="l">
              <a:lnSpc>
                <a:spcPts val="4759"/>
              </a:lnSpc>
            </a:pPr>
            <a:r>
              <a:rPr lang="en-US" sz="3399" b="true">
                <a:solidFill>
                  <a:srgbClr val="363336"/>
                </a:solidFill>
                <a:latin typeface="PT Serif Bold"/>
                <a:ea typeface="PT Serif Bold"/>
                <a:cs typeface="PT Serif Bold"/>
                <a:sym typeface="PT Serif Bold"/>
              </a:rPr>
              <a:t>Suitable for:</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Minimax algorithm</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Alpha-Beta pruning</a:t>
            </a:r>
          </a:p>
          <a:p>
            <a:pPr algn="l">
              <a:lnSpc>
                <a:spcPts val="4759"/>
              </a:lnSpc>
            </a:pPr>
            <a:r>
              <a:rPr lang="en-US" sz="3399" b="true">
                <a:solidFill>
                  <a:srgbClr val="363336"/>
                </a:solidFill>
                <a:latin typeface="PT Serif Bold"/>
                <a:ea typeface="PT Serif Bold"/>
                <a:cs typeface="PT Serif Bold"/>
                <a:sym typeface="PT Serif Bold"/>
              </a:rPr>
              <a:t>Allows exploration of:</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decision-making under limited depth</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heuristic design</a:t>
            </a:r>
          </a:p>
          <a:p>
            <a:pPr algn="l">
              <a:lnSpc>
                <a:spcPts val="4759"/>
              </a:lnSpc>
            </a:pPr>
            <a:r>
              <a:rPr lang="en-US" sz="3399">
                <a:solidFill>
                  <a:srgbClr val="363336"/>
                </a:solidFill>
                <a:latin typeface="PT Serif"/>
                <a:ea typeface="PT Serif"/>
                <a:cs typeface="PT Serif"/>
                <a:sym typeface="PT Serif"/>
              </a:rPr>
              <a:t>Helps understand how AI evaluates game states</a:t>
            </a: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69938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Most Interesting Idea</a:t>
            </a:r>
          </a:p>
        </p:txBody>
      </p:sp>
      <p:sp>
        <p:nvSpPr>
          <p:cNvPr name="TextBox 5" id="5"/>
          <p:cNvSpPr txBox="true"/>
          <p:nvPr/>
        </p:nvSpPr>
        <p:spPr>
          <a:xfrm rot="0">
            <a:off x="1028700" y="2952984"/>
            <a:ext cx="14895539" cy="5981065"/>
          </a:xfrm>
          <a:prstGeom prst="rect">
            <a:avLst/>
          </a:prstGeom>
        </p:spPr>
        <p:txBody>
          <a:bodyPr anchor="t" rtlCol="false" tIns="0" lIns="0" bIns="0" rIns="0">
            <a:spAutoFit/>
          </a:bodyPr>
          <a:lstStyle/>
          <a:p>
            <a:pPr algn="l">
              <a:lnSpc>
                <a:spcPts val="4759"/>
              </a:lnSpc>
            </a:pPr>
            <a:r>
              <a:rPr lang="en-US" sz="3399">
                <a:solidFill>
                  <a:srgbClr val="363336"/>
                </a:solidFill>
                <a:latin typeface="PT Serif"/>
                <a:ea typeface="PT Serif"/>
                <a:cs typeface="PT Serif"/>
                <a:sym typeface="PT Serif"/>
              </a:rPr>
              <a:t>Even without deep search, the AI behaves intelligently just because of the evaluation function.</a:t>
            </a:r>
          </a:p>
          <a:p>
            <a:pPr algn="l">
              <a:lnSpc>
                <a:spcPts val="4759"/>
              </a:lnSpc>
            </a:pPr>
          </a:p>
          <a:p>
            <a:pPr algn="l">
              <a:lnSpc>
                <a:spcPts val="4759"/>
              </a:lnSpc>
            </a:pPr>
            <a:r>
              <a:rPr lang="en-US" sz="3399">
                <a:solidFill>
                  <a:srgbClr val="363336"/>
                </a:solidFill>
                <a:latin typeface="PT Serif"/>
                <a:ea typeface="PT Serif"/>
                <a:cs typeface="PT Serif"/>
                <a:sym typeface="PT Serif"/>
              </a:rPr>
              <a:t>Even with lim</a:t>
            </a:r>
            <a:r>
              <a:rPr lang="en-US" sz="3399">
                <a:solidFill>
                  <a:srgbClr val="363336"/>
                </a:solidFill>
                <a:latin typeface="PT Serif"/>
                <a:ea typeface="PT Serif"/>
                <a:cs typeface="PT Serif"/>
                <a:sym typeface="PT Serif"/>
              </a:rPr>
              <a:t>ite</a:t>
            </a:r>
            <a:r>
              <a:rPr lang="en-US" sz="3399">
                <a:solidFill>
                  <a:srgbClr val="363336"/>
                </a:solidFill>
                <a:latin typeface="PT Serif"/>
                <a:ea typeface="PT Serif"/>
                <a:cs typeface="PT Serif"/>
                <a:sym typeface="PT Serif"/>
              </a:rPr>
              <a:t>d</a:t>
            </a:r>
            <a:r>
              <a:rPr lang="en-US" sz="3399">
                <a:solidFill>
                  <a:srgbClr val="363336"/>
                </a:solidFill>
                <a:latin typeface="PT Serif"/>
                <a:ea typeface="PT Serif"/>
                <a:cs typeface="PT Serif"/>
                <a:sym typeface="PT Serif"/>
              </a:rPr>
              <a:t> </a:t>
            </a:r>
            <a:r>
              <a:rPr lang="en-US" sz="3399">
                <a:solidFill>
                  <a:srgbClr val="363336"/>
                </a:solidFill>
                <a:latin typeface="PT Serif"/>
                <a:ea typeface="PT Serif"/>
                <a:cs typeface="PT Serif"/>
                <a:sym typeface="PT Serif"/>
              </a:rPr>
              <a:t>sea</a:t>
            </a:r>
            <a:r>
              <a:rPr lang="en-US" sz="3399">
                <a:solidFill>
                  <a:srgbClr val="363336"/>
                </a:solidFill>
                <a:latin typeface="PT Serif"/>
                <a:ea typeface="PT Serif"/>
                <a:cs typeface="PT Serif"/>
                <a:sym typeface="PT Serif"/>
              </a:rPr>
              <a:t>r</a:t>
            </a:r>
            <a:r>
              <a:rPr lang="en-US" sz="3399">
                <a:solidFill>
                  <a:srgbClr val="363336"/>
                </a:solidFill>
                <a:latin typeface="PT Serif"/>
                <a:ea typeface="PT Serif"/>
                <a:cs typeface="PT Serif"/>
                <a:sym typeface="PT Serif"/>
              </a:rPr>
              <a:t>ch depth</a:t>
            </a:r>
            <a:r>
              <a:rPr lang="en-US" sz="3399">
                <a:solidFill>
                  <a:srgbClr val="363336"/>
                </a:solidFill>
                <a:latin typeface="PT Serif"/>
                <a:ea typeface="PT Serif"/>
                <a:cs typeface="PT Serif"/>
                <a:sym typeface="PT Serif"/>
              </a:rPr>
              <a:t>:</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a good heuristic can guide</a:t>
            </a:r>
            <a:r>
              <a:rPr lang="en-US" sz="3399">
                <a:solidFill>
                  <a:srgbClr val="363336"/>
                </a:solidFill>
                <a:latin typeface="PT Serif"/>
                <a:ea typeface="PT Serif"/>
                <a:cs typeface="PT Serif"/>
                <a:sym typeface="PT Serif"/>
              </a:rPr>
              <a:t> </a:t>
            </a:r>
            <a:r>
              <a:rPr lang="en-US" sz="3399">
                <a:solidFill>
                  <a:srgbClr val="363336"/>
                </a:solidFill>
                <a:latin typeface="PT Serif"/>
                <a:ea typeface="PT Serif"/>
                <a:cs typeface="PT Serif"/>
                <a:sym typeface="PT Serif"/>
              </a:rPr>
              <a:t>b</a:t>
            </a:r>
            <a:r>
              <a:rPr lang="en-US" sz="3399">
                <a:solidFill>
                  <a:srgbClr val="363336"/>
                </a:solidFill>
                <a:latin typeface="PT Serif"/>
                <a:ea typeface="PT Serif"/>
                <a:cs typeface="PT Serif"/>
                <a:sym typeface="PT Serif"/>
              </a:rPr>
              <a:t>e</a:t>
            </a:r>
            <a:r>
              <a:rPr lang="en-US" sz="3399">
                <a:solidFill>
                  <a:srgbClr val="363336"/>
                </a:solidFill>
                <a:latin typeface="PT Serif"/>
                <a:ea typeface="PT Serif"/>
                <a:cs typeface="PT Serif"/>
                <a:sym typeface="PT Serif"/>
              </a:rPr>
              <a:t>tte</a:t>
            </a:r>
            <a:r>
              <a:rPr lang="en-US" sz="3399">
                <a:solidFill>
                  <a:srgbClr val="363336"/>
                </a:solidFill>
                <a:latin typeface="PT Serif"/>
                <a:ea typeface="PT Serif"/>
                <a:cs typeface="PT Serif"/>
                <a:sym typeface="PT Serif"/>
              </a:rPr>
              <a:t>r </a:t>
            </a:r>
            <a:r>
              <a:rPr lang="en-US" sz="3399">
                <a:solidFill>
                  <a:srgbClr val="363336"/>
                </a:solidFill>
                <a:latin typeface="PT Serif"/>
                <a:ea typeface="PT Serif"/>
                <a:cs typeface="PT Serif"/>
                <a:sym typeface="PT Serif"/>
              </a:rPr>
              <a:t>decisions</a:t>
            </a:r>
          </a:p>
          <a:p>
            <a:pPr algn="l">
              <a:lnSpc>
                <a:spcPts val="4759"/>
              </a:lnSpc>
            </a:pPr>
          </a:p>
          <a:p>
            <a:pPr algn="l">
              <a:lnSpc>
                <a:spcPts val="4759"/>
              </a:lnSpc>
            </a:pPr>
            <a:r>
              <a:rPr lang="en-US" sz="3399">
                <a:solidFill>
                  <a:srgbClr val="363336"/>
                </a:solidFill>
                <a:latin typeface="PT Serif"/>
                <a:ea typeface="PT Serif"/>
                <a:cs typeface="PT Serif"/>
                <a:sym typeface="PT Serif"/>
              </a:rPr>
              <a:t>Small changes in evaluation logic:</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significantly change AI behavior</a:t>
            </a:r>
          </a:p>
          <a:p>
            <a:pPr algn="l">
              <a:lnSpc>
                <a:spcPts val="4759"/>
              </a:lnSpc>
            </a:pPr>
            <a:r>
              <a:rPr lang="en-US" sz="3399">
                <a:solidFill>
                  <a:srgbClr val="363336"/>
                </a:solidFill>
                <a:latin typeface="PT Serif"/>
                <a:ea typeface="PT Serif"/>
                <a:cs typeface="PT Serif"/>
                <a:sym typeface="PT Serif"/>
              </a:rPr>
              <a:t>Shows how AI “thinks” about the game</a:t>
            </a: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69938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Implementation VS Idea</a:t>
            </a:r>
          </a:p>
        </p:txBody>
      </p:sp>
      <p:sp>
        <p:nvSpPr>
          <p:cNvPr name="TextBox 5" id="5"/>
          <p:cNvSpPr txBox="true"/>
          <p:nvPr/>
        </p:nvSpPr>
        <p:spPr>
          <a:xfrm rot="0">
            <a:off x="1028700" y="2952984"/>
            <a:ext cx="13436017" cy="5380990"/>
          </a:xfrm>
          <a:prstGeom prst="rect">
            <a:avLst/>
          </a:prstGeom>
        </p:spPr>
        <p:txBody>
          <a:bodyPr anchor="t" rtlCol="false" tIns="0" lIns="0" bIns="0" rIns="0">
            <a:spAutoFit/>
          </a:bodyPr>
          <a:lstStyle/>
          <a:p>
            <a:pPr algn="l">
              <a:lnSpc>
                <a:spcPts val="4759"/>
              </a:lnSpc>
            </a:pPr>
            <a:r>
              <a:rPr lang="en-US" sz="3399">
                <a:solidFill>
                  <a:srgbClr val="363336"/>
                </a:solidFill>
                <a:latin typeface="PT Serif"/>
                <a:ea typeface="PT Serif"/>
                <a:cs typeface="PT Serif"/>
                <a:sym typeface="PT Serif"/>
              </a:rPr>
              <a:t>I</a:t>
            </a:r>
            <a:r>
              <a:rPr lang="en-US" sz="3399" b="true">
                <a:solidFill>
                  <a:srgbClr val="363336"/>
                </a:solidFill>
                <a:latin typeface="PT Serif Bold"/>
                <a:ea typeface="PT Serif Bold"/>
                <a:cs typeface="PT Serif Bold"/>
                <a:sym typeface="PT Serif Bold"/>
              </a:rPr>
              <a:t>dea:</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AI explores all possible moves deeply</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always finds optimal strategy</a:t>
            </a:r>
          </a:p>
          <a:p>
            <a:pPr algn="l">
              <a:lnSpc>
                <a:spcPts val="4759"/>
              </a:lnSpc>
            </a:pPr>
            <a:r>
              <a:rPr lang="en-US" sz="3399" b="true">
                <a:solidFill>
                  <a:srgbClr val="363336"/>
                </a:solidFill>
                <a:latin typeface="PT Serif Bold"/>
                <a:ea typeface="PT Serif Bold"/>
                <a:cs typeface="PT Serif Bold"/>
                <a:sym typeface="PT Serif Bold"/>
              </a:rPr>
              <a:t>Implementation:</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lim</a:t>
            </a:r>
            <a:r>
              <a:rPr lang="en-US" sz="3399">
                <a:solidFill>
                  <a:srgbClr val="363336"/>
                </a:solidFill>
                <a:latin typeface="PT Serif"/>
                <a:ea typeface="PT Serif"/>
                <a:cs typeface="PT Serif"/>
                <a:sym typeface="PT Serif"/>
              </a:rPr>
              <a:t>ite</a:t>
            </a:r>
            <a:r>
              <a:rPr lang="en-US" sz="3399">
                <a:solidFill>
                  <a:srgbClr val="363336"/>
                </a:solidFill>
                <a:latin typeface="PT Serif"/>
                <a:ea typeface="PT Serif"/>
                <a:cs typeface="PT Serif"/>
                <a:sym typeface="PT Serif"/>
              </a:rPr>
              <a:t>d</a:t>
            </a:r>
            <a:r>
              <a:rPr lang="en-US" sz="3399">
                <a:solidFill>
                  <a:srgbClr val="363336"/>
                </a:solidFill>
                <a:latin typeface="PT Serif"/>
                <a:ea typeface="PT Serif"/>
                <a:cs typeface="PT Serif"/>
                <a:sym typeface="PT Serif"/>
              </a:rPr>
              <a:t> d</a:t>
            </a:r>
            <a:r>
              <a:rPr lang="en-US" sz="3399">
                <a:solidFill>
                  <a:srgbClr val="363336"/>
                </a:solidFill>
                <a:latin typeface="PT Serif"/>
                <a:ea typeface="PT Serif"/>
                <a:cs typeface="PT Serif"/>
                <a:sym typeface="PT Serif"/>
              </a:rPr>
              <a:t>epth due to performance</a:t>
            </a:r>
            <a:r>
              <a:rPr lang="en-US" sz="3399">
                <a:solidFill>
                  <a:srgbClr val="363336"/>
                </a:solidFill>
                <a:latin typeface="PT Serif"/>
                <a:ea typeface="PT Serif"/>
                <a:cs typeface="PT Serif"/>
                <a:sym typeface="PT Serif"/>
              </a:rPr>
              <a:t> cons</a:t>
            </a:r>
            <a:r>
              <a:rPr lang="en-US" sz="3399">
                <a:solidFill>
                  <a:srgbClr val="363336"/>
                </a:solidFill>
                <a:latin typeface="PT Serif"/>
                <a:ea typeface="PT Serif"/>
                <a:cs typeface="PT Serif"/>
                <a:sym typeface="PT Serif"/>
              </a:rPr>
              <a:t>traints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r</a:t>
            </a:r>
            <a:r>
              <a:rPr lang="en-US" sz="3399">
                <a:solidFill>
                  <a:srgbClr val="363336"/>
                </a:solidFill>
                <a:latin typeface="PT Serif"/>
                <a:ea typeface="PT Serif"/>
                <a:cs typeface="PT Serif"/>
                <a:sym typeface="PT Serif"/>
              </a:rPr>
              <a:t>elies on heuristic evaluation</a:t>
            </a:r>
          </a:p>
          <a:p>
            <a:pPr algn="l">
              <a:lnSpc>
                <a:spcPts val="4759"/>
              </a:lnSpc>
            </a:pPr>
            <a:r>
              <a:rPr lang="en-US" sz="3399" b="true">
                <a:solidFill>
                  <a:srgbClr val="363336"/>
                </a:solidFill>
                <a:latin typeface="PT Serif Bold"/>
                <a:ea typeface="PT Serif Bold"/>
                <a:cs typeface="PT Serif Bold"/>
                <a:sym typeface="PT Serif Bold"/>
              </a:rPr>
              <a:t>Trade-off:</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ac</a:t>
            </a:r>
            <a:r>
              <a:rPr lang="en-US" sz="3399">
                <a:solidFill>
                  <a:srgbClr val="363336"/>
                </a:solidFill>
                <a:latin typeface="PT Serif"/>
                <a:ea typeface="PT Serif"/>
                <a:cs typeface="PT Serif"/>
                <a:sym typeface="PT Serif"/>
              </a:rPr>
              <a:t>curacy vs speed</a:t>
            </a: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69938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Most Striking Success</a:t>
            </a:r>
          </a:p>
        </p:txBody>
      </p:sp>
      <p:sp>
        <p:nvSpPr>
          <p:cNvPr name="TextBox 5" id="5"/>
          <p:cNvSpPr txBox="true"/>
          <p:nvPr/>
        </p:nvSpPr>
        <p:spPr>
          <a:xfrm rot="0">
            <a:off x="1028700" y="3134483"/>
            <a:ext cx="13436017" cy="4180840"/>
          </a:xfrm>
          <a:prstGeom prst="rect">
            <a:avLst/>
          </a:prstGeom>
        </p:spPr>
        <p:txBody>
          <a:bodyPr anchor="t" rtlCol="false" tIns="0" lIns="0" bIns="0" rIns="0">
            <a:spAutoFit/>
          </a:bodyPr>
          <a:lstStyle/>
          <a:p>
            <a:pPr algn="l" marL="734056" indent="-367028" lvl="1">
              <a:lnSpc>
                <a:spcPts val="4759"/>
              </a:lnSpc>
              <a:buFont typeface="Arial"/>
              <a:buChar char="•"/>
            </a:pPr>
            <a:r>
              <a:rPr lang="en-US" sz="3399">
                <a:solidFill>
                  <a:srgbClr val="363336"/>
                </a:solidFill>
                <a:latin typeface="PT Serif"/>
                <a:ea typeface="PT Serif"/>
                <a:cs typeface="PT Serif"/>
                <a:sym typeface="PT Serif"/>
              </a:rPr>
              <a:t>AI made more strategic moves after improving evaluation function</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Hounds were better at trapping the fox</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Fox mobility was effectively reduced</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Alpha-Beta pruning improved performance</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Game became more realistic and competitive</a:t>
            </a: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69938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Most Striking Failure</a:t>
            </a:r>
          </a:p>
        </p:txBody>
      </p:sp>
      <p:sp>
        <p:nvSpPr>
          <p:cNvPr name="TextBox 5" id="5"/>
          <p:cNvSpPr txBox="true"/>
          <p:nvPr/>
        </p:nvSpPr>
        <p:spPr>
          <a:xfrm rot="0">
            <a:off x="1028700" y="3134483"/>
            <a:ext cx="13436017" cy="2980690"/>
          </a:xfrm>
          <a:prstGeom prst="rect">
            <a:avLst/>
          </a:prstGeom>
        </p:spPr>
        <p:txBody>
          <a:bodyPr anchor="t" rtlCol="false" tIns="0" lIns="0" bIns="0" rIns="0">
            <a:spAutoFit/>
          </a:bodyPr>
          <a:lstStyle/>
          <a:p>
            <a:pPr algn="l" marL="734056" indent="-367028" lvl="1">
              <a:lnSpc>
                <a:spcPts val="4759"/>
              </a:lnSpc>
              <a:buFont typeface="Arial"/>
              <a:buChar char="•"/>
            </a:pPr>
            <a:r>
              <a:rPr lang="en-US" sz="3399">
                <a:solidFill>
                  <a:srgbClr val="363336"/>
                </a:solidFill>
                <a:latin typeface="PT Serif"/>
                <a:ea typeface="PT Serif"/>
                <a:cs typeface="PT Serif"/>
                <a:sym typeface="PT Serif"/>
              </a:rPr>
              <a:t>AI still makes suboptimal decisions at low depth</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Cann</a:t>
            </a:r>
            <a:r>
              <a:rPr lang="en-US" sz="3399">
                <a:solidFill>
                  <a:srgbClr val="363336"/>
                </a:solidFill>
                <a:latin typeface="PT Serif"/>
                <a:ea typeface="PT Serif"/>
                <a:cs typeface="PT Serif"/>
                <a:sym typeface="PT Serif"/>
              </a:rPr>
              <a:t>ot always predict long-term strategies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S</a:t>
            </a:r>
            <a:r>
              <a:rPr lang="en-US" sz="3399">
                <a:solidFill>
                  <a:srgbClr val="363336"/>
                </a:solidFill>
                <a:latin typeface="PT Serif"/>
                <a:ea typeface="PT Serif"/>
                <a:cs typeface="PT Serif"/>
                <a:sym typeface="PT Serif"/>
              </a:rPr>
              <a:t>ometimes misses better moves due to heuristic limitations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Performance decreases with higher depth</a:t>
            </a: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699383"/>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Suggested Improvements</a:t>
            </a:r>
          </a:p>
        </p:txBody>
      </p:sp>
      <p:sp>
        <p:nvSpPr>
          <p:cNvPr name="TextBox 5" id="5"/>
          <p:cNvSpPr txBox="true"/>
          <p:nvPr/>
        </p:nvSpPr>
        <p:spPr>
          <a:xfrm rot="0">
            <a:off x="1028700" y="3134483"/>
            <a:ext cx="15936939" cy="5981065"/>
          </a:xfrm>
          <a:prstGeom prst="rect">
            <a:avLst/>
          </a:prstGeom>
        </p:spPr>
        <p:txBody>
          <a:bodyPr anchor="t" rtlCol="false" tIns="0" lIns="0" bIns="0" rIns="0">
            <a:spAutoFit/>
          </a:bodyPr>
          <a:lstStyle/>
          <a:p>
            <a:pPr algn="l" marL="734056" indent="-367028" lvl="1">
              <a:lnSpc>
                <a:spcPts val="4759"/>
              </a:lnSpc>
              <a:buFont typeface="Arial"/>
              <a:buChar char="•"/>
            </a:pPr>
            <a:r>
              <a:rPr lang="en-US" sz="3399">
                <a:solidFill>
                  <a:srgbClr val="363336"/>
                </a:solidFill>
                <a:latin typeface="PT Serif"/>
                <a:ea typeface="PT Serif"/>
                <a:cs typeface="PT Serif"/>
                <a:sym typeface="PT Serif"/>
              </a:rPr>
              <a:t>Enhance the evaluation function by considering:</a:t>
            </a:r>
          </a:p>
          <a:p>
            <a:pPr algn="l" marL="1468112" indent="-489371" lvl="2">
              <a:lnSpc>
                <a:spcPts val="4759"/>
              </a:lnSpc>
              <a:buFont typeface="Arial"/>
              <a:buChar char="⚬"/>
            </a:pPr>
            <a:r>
              <a:rPr lang="en-US" sz="3399">
                <a:solidFill>
                  <a:srgbClr val="363336"/>
                </a:solidFill>
                <a:latin typeface="PT Serif"/>
                <a:ea typeface="PT Serif"/>
                <a:cs typeface="PT Serif"/>
                <a:sym typeface="PT Serif"/>
              </a:rPr>
              <a:t>open escape paths for the fox</a:t>
            </a:r>
          </a:p>
          <a:p>
            <a:pPr algn="l" marL="1468112" indent="-489371" lvl="2">
              <a:lnSpc>
                <a:spcPts val="4759"/>
              </a:lnSpc>
              <a:buFont typeface="Arial"/>
              <a:buChar char="⚬"/>
            </a:pPr>
            <a:r>
              <a:rPr lang="en-US" sz="3399">
                <a:solidFill>
                  <a:srgbClr val="363336"/>
                </a:solidFill>
                <a:latin typeface="PT Serif"/>
                <a:ea typeface="PT Serif"/>
                <a:cs typeface="PT Serif"/>
                <a:sym typeface="PT Serif"/>
              </a:rPr>
              <a:t>blocking strategies for hounds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Fine-tune heuristic weights to balance mobility, positioning, and trapping</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Increase minimax depth while maintaining performance using optimizations</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Reduce randomness in move selection to improve consistency</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Implement AI vs AI simulations to evaluate long-term performance</a:t>
            </a:r>
          </a:p>
          <a:p>
            <a:pPr algn="l" marL="734056" indent="-367028" lvl="1">
              <a:lnSpc>
                <a:spcPts val="4759"/>
              </a:lnSpc>
              <a:buFont typeface="Arial"/>
              <a:buChar char="•"/>
            </a:pPr>
            <a:r>
              <a:rPr lang="en-US" sz="3399">
                <a:solidFill>
                  <a:srgbClr val="363336"/>
                </a:solidFill>
                <a:latin typeface="PT Serif"/>
                <a:ea typeface="PT Serif"/>
                <a:cs typeface="PT Serif"/>
                <a:sym typeface="PT Serif"/>
              </a:rPr>
              <a:t>Explore learning-based approaches (e.g., reinforcement learning) for adaptive AI</a:t>
            </a:r>
          </a:p>
          <a:p>
            <a:pPr algn="l">
              <a:lnSpc>
                <a:spcPts val="4759"/>
              </a:lnSpc>
            </a:pPr>
          </a:p>
        </p:txBody>
      </p:sp>
      <p:sp>
        <p:nvSpPr>
          <p:cNvPr name="TextBox 6" id="6"/>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7" id="7"/>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Freeform 8" id="8"/>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028700" y="2623860"/>
            <a:ext cx="8203434" cy="7044699"/>
          </a:xfrm>
          <a:custGeom>
            <a:avLst/>
            <a:gdLst/>
            <a:ahLst/>
            <a:cxnLst/>
            <a:rect r="r" b="b" t="t" l="l"/>
            <a:pathLst>
              <a:path h="7044699" w="8203434">
                <a:moveTo>
                  <a:pt x="0" y="0"/>
                </a:moveTo>
                <a:lnTo>
                  <a:pt x="8203434" y="0"/>
                </a:lnTo>
                <a:lnTo>
                  <a:pt x="8203434" y="7044699"/>
                </a:lnTo>
                <a:lnTo>
                  <a:pt x="0" y="7044699"/>
                </a:lnTo>
                <a:lnTo>
                  <a:pt x="0" y="0"/>
                </a:lnTo>
                <a:close/>
              </a:path>
            </a:pathLst>
          </a:custGeom>
          <a:blipFill>
            <a:blip r:embed="rId9"/>
            <a:stretch>
              <a:fillRect l="0" t="0" r="0" b="0"/>
            </a:stretch>
          </a:blipFill>
        </p:spPr>
      </p:sp>
      <p:sp>
        <p:nvSpPr>
          <p:cNvPr name="TextBox 7" id="7"/>
          <p:cNvSpPr txBox="true"/>
          <p:nvPr/>
        </p:nvSpPr>
        <p:spPr>
          <a:xfrm rot="0">
            <a:off x="1028700" y="1560235"/>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Problems we faced (Before)</a:t>
            </a:r>
          </a:p>
        </p:txBody>
      </p:sp>
      <p:sp>
        <p:nvSpPr>
          <p:cNvPr name="TextBox 8" id="8"/>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9" id="9"/>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TextBox 10" id="10"/>
          <p:cNvSpPr txBox="true"/>
          <p:nvPr/>
        </p:nvSpPr>
        <p:spPr>
          <a:xfrm rot="0">
            <a:off x="10800580" y="2826383"/>
            <a:ext cx="5957669" cy="2317117"/>
          </a:xfrm>
          <a:prstGeom prst="rect">
            <a:avLst/>
          </a:prstGeom>
        </p:spPr>
        <p:txBody>
          <a:bodyPr anchor="t" rtlCol="false" tIns="0" lIns="0" bIns="0" rIns="0">
            <a:spAutoFit/>
          </a:bodyPr>
          <a:lstStyle/>
          <a:p>
            <a:pPr algn="ctr">
              <a:lnSpc>
                <a:spcPts val="6159"/>
              </a:lnSpc>
              <a:spcBef>
                <a:spcPct val="0"/>
              </a:spcBef>
            </a:pPr>
            <a:r>
              <a:rPr lang="en-US" sz="4399">
                <a:solidFill>
                  <a:srgbClr val="000000"/>
                </a:solidFill>
                <a:latin typeface="PT Serif"/>
                <a:ea typeface="PT Serif"/>
                <a:cs typeface="PT Serif"/>
                <a:sym typeface="PT Serif"/>
              </a:rPr>
              <a:t>Fox was losing every time in the same scenario.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028700" y="2623860"/>
            <a:ext cx="8268962" cy="7090635"/>
          </a:xfrm>
          <a:custGeom>
            <a:avLst/>
            <a:gdLst/>
            <a:ahLst/>
            <a:cxnLst/>
            <a:rect r="r" b="b" t="t" l="l"/>
            <a:pathLst>
              <a:path h="7090635" w="8268962">
                <a:moveTo>
                  <a:pt x="0" y="0"/>
                </a:moveTo>
                <a:lnTo>
                  <a:pt x="8268962" y="0"/>
                </a:lnTo>
                <a:lnTo>
                  <a:pt x="8268962" y="7090635"/>
                </a:lnTo>
                <a:lnTo>
                  <a:pt x="0" y="7090635"/>
                </a:lnTo>
                <a:lnTo>
                  <a:pt x="0" y="0"/>
                </a:lnTo>
                <a:close/>
              </a:path>
            </a:pathLst>
          </a:custGeom>
          <a:blipFill>
            <a:blip r:embed="rId9"/>
            <a:stretch>
              <a:fillRect l="0" t="0" r="0" b="0"/>
            </a:stretch>
          </a:blipFill>
        </p:spPr>
      </p:sp>
      <p:sp>
        <p:nvSpPr>
          <p:cNvPr name="TextBox 7" id="7"/>
          <p:cNvSpPr txBox="true"/>
          <p:nvPr/>
        </p:nvSpPr>
        <p:spPr>
          <a:xfrm rot="0">
            <a:off x="1028700" y="1560235"/>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Problems we faced (After)</a:t>
            </a:r>
          </a:p>
        </p:txBody>
      </p:sp>
      <p:sp>
        <p:nvSpPr>
          <p:cNvPr name="TextBox 8" id="8"/>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9" id="9"/>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TextBox 10" id="10"/>
          <p:cNvSpPr txBox="true"/>
          <p:nvPr/>
        </p:nvSpPr>
        <p:spPr>
          <a:xfrm rot="0">
            <a:off x="10506919" y="4577232"/>
            <a:ext cx="6458720" cy="3098167"/>
          </a:xfrm>
          <a:prstGeom prst="rect">
            <a:avLst/>
          </a:prstGeom>
        </p:spPr>
        <p:txBody>
          <a:bodyPr anchor="t" rtlCol="false" tIns="0" lIns="0" bIns="0" rIns="0">
            <a:spAutoFit/>
          </a:bodyPr>
          <a:lstStyle/>
          <a:p>
            <a:pPr algn="l">
              <a:lnSpc>
                <a:spcPts val="6159"/>
              </a:lnSpc>
            </a:pPr>
            <a:r>
              <a:rPr lang="en-US" sz="4399">
                <a:solidFill>
                  <a:srgbClr val="000000"/>
                </a:solidFill>
                <a:latin typeface="PT Serif"/>
                <a:ea typeface="PT Serif"/>
                <a:cs typeface="PT Serif"/>
                <a:sym typeface="PT Serif"/>
              </a:rPr>
              <a:t>Improved the code so they are not ending up in same scenario.</a:t>
            </a:r>
          </a:p>
          <a:p>
            <a:pPr algn="l">
              <a:lnSpc>
                <a:spcPts val="615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028700" y="2736378"/>
            <a:ext cx="8115300" cy="6999446"/>
          </a:xfrm>
          <a:custGeom>
            <a:avLst/>
            <a:gdLst/>
            <a:ahLst/>
            <a:cxnLst/>
            <a:rect r="r" b="b" t="t" l="l"/>
            <a:pathLst>
              <a:path h="6999446" w="8115300">
                <a:moveTo>
                  <a:pt x="0" y="0"/>
                </a:moveTo>
                <a:lnTo>
                  <a:pt x="8115300" y="0"/>
                </a:lnTo>
                <a:lnTo>
                  <a:pt x="8115300" y="6999446"/>
                </a:lnTo>
                <a:lnTo>
                  <a:pt x="0" y="6999446"/>
                </a:lnTo>
                <a:lnTo>
                  <a:pt x="0" y="0"/>
                </a:lnTo>
                <a:close/>
              </a:path>
            </a:pathLst>
          </a:custGeom>
          <a:blipFill>
            <a:blip r:embed="rId9"/>
            <a:stretch>
              <a:fillRect l="0" t="0" r="0" b="0"/>
            </a:stretch>
          </a:blipFill>
        </p:spPr>
      </p:sp>
      <p:sp>
        <p:nvSpPr>
          <p:cNvPr name="Freeform 7" id="7"/>
          <p:cNvSpPr/>
          <p:nvPr/>
        </p:nvSpPr>
        <p:spPr>
          <a:xfrm flipH="false" flipV="false" rot="0">
            <a:off x="10631108" y="5452679"/>
            <a:ext cx="3105171" cy="4077497"/>
          </a:xfrm>
          <a:custGeom>
            <a:avLst/>
            <a:gdLst/>
            <a:ahLst/>
            <a:cxnLst/>
            <a:rect r="r" b="b" t="t" l="l"/>
            <a:pathLst>
              <a:path h="4077497" w="3105171">
                <a:moveTo>
                  <a:pt x="0" y="0"/>
                </a:moveTo>
                <a:lnTo>
                  <a:pt x="3105171" y="0"/>
                </a:lnTo>
                <a:lnTo>
                  <a:pt x="3105171" y="4077498"/>
                </a:lnTo>
                <a:lnTo>
                  <a:pt x="0" y="4077498"/>
                </a:lnTo>
                <a:lnTo>
                  <a:pt x="0" y="0"/>
                </a:lnTo>
                <a:close/>
              </a:path>
            </a:pathLst>
          </a:custGeom>
          <a:blipFill>
            <a:blip r:embed="rId10"/>
            <a:stretch>
              <a:fillRect l="0" t="0" r="0" b="0"/>
            </a:stretch>
          </a:blipFill>
        </p:spPr>
      </p:sp>
      <p:sp>
        <p:nvSpPr>
          <p:cNvPr name="TextBox 8" id="8"/>
          <p:cNvSpPr txBox="true"/>
          <p:nvPr/>
        </p:nvSpPr>
        <p:spPr>
          <a:xfrm rot="0">
            <a:off x="1028700" y="1560235"/>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Training First 5 Games</a:t>
            </a:r>
          </a:p>
        </p:txBody>
      </p:sp>
      <p:sp>
        <p:nvSpPr>
          <p:cNvPr name="TextBox 9" id="9"/>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10" id="10"/>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TextBox 11" id="11"/>
          <p:cNvSpPr txBox="true"/>
          <p:nvPr/>
        </p:nvSpPr>
        <p:spPr>
          <a:xfrm rot="0">
            <a:off x="10506919" y="2842935"/>
            <a:ext cx="6458720" cy="2317117"/>
          </a:xfrm>
          <a:prstGeom prst="rect">
            <a:avLst/>
          </a:prstGeom>
        </p:spPr>
        <p:txBody>
          <a:bodyPr anchor="t" rtlCol="false" tIns="0" lIns="0" bIns="0" rIns="0">
            <a:spAutoFit/>
          </a:bodyPr>
          <a:lstStyle/>
          <a:p>
            <a:pPr algn="l">
              <a:lnSpc>
                <a:spcPts val="6159"/>
              </a:lnSpc>
            </a:pPr>
            <a:r>
              <a:rPr lang="en-US" sz="4399">
                <a:solidFill>
                  <a:srgbClr val="000000"/>
                </a:solidFill>
                <a:latin typeface="PT Serif"/>
                <a:ea typeface="PT Serif"/>
                <a:cs typeface="PT Serif"/>
                <a:sym typeface="PT Serif"/>
              </a:rPr>
              <a:t>Shows variation and learning behavior</a:t>
            </a:r>
          </a:p>
          <a:p>
            <a:pPr algn="l">
              <a:lnSpc>
                <a:spcPts val="615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772365"/>
            <a:ext cx="352337" cy="354918"/>
          </a:xfrm>
          <a:custGeom>
            <a:avLst/>
            <a:gdLst/>
            <a:ahLst/>
            <a:cxnLst/>
            <a:rect r="r" b="b" t="t" l="l"/>
            <a:pathLst>
              <a:path h="354918" w="352337">
                <a:moveTo>
                  <a:pt x="0" y="0"/>
                </a:moveTo>
                <a:lnTo>
                  <a:pt x="352337" y="0"/>
                </a:lnTo>
                <a:lnTo>
                  <a:pt x="352337" y="354918"/>
                </a:lnTo>
                <a:lnTo>
                  <a:pt x="0" y="354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800000">
            <a:off x="15408013" y="9258300"/>
            <a:ext cx="3115252" cy="543753"/>
          </a:xfrm>
          <a:custGeom>
            <a:avLst/>
            <a:gdLst/>
            <a:ahLst/>
            <a:cxnLst/>
            <a:rect r="r" b="b" t="t" l="l"/>
            <a:pathLst>
              <a:path h="543753" w="3115252">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361167" y="1057906"/>
            <a:ext cx="1045375" cy="296506"/>
          </a:xfrm>
          <a:custGeom>
            <a:avLst/>
            <a:gdLst/>
            <a:ahLst/>
            <a:cxnLst/>
            <a:rect r="r" b="b" t="t" l="l"/>
            <a:pathLst>
              <a:path h="296506" w="1045375">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204868" y="2748614"/>
            <a:ext cx="8201674" cy="7053439"/>
          </a:xfrm>
          <a:custGeom>
            <a:avLst/>
            <a:gdLst/>
            <a:ahLst/>
            <a:cxnLst/>
            <a:rect r="r" b="b" t="t" l="l"/>
            <a:pathLst>
              <a:path h="7053439" w="8201674">
                <a:moveTo>
                  <a:pt x="0" y="0"/>
                </a:moveTo>
                <a:lnTo>
                  <a:pt x="8201674" y="0"/>
                </a:lnTo>
                <a:lnTo>
                  <a:pt x="8201674" y="7053439"/>
                </a:lnTo>
                <a:lnTo>
                  <a:pt x="0" y="7053439"/>
                </a:lnTo>
                <a:lnTo>
                  <a:pt x="0" y="0"/>
                </a:lnTo>
                <a:close/>
              </a:path>
            </a:pathLst>
          </a:custGeom>
          <a:blipFill>
            <a:blip r:embed="rId9"/>
            <a:stretch>
              <a:fillRect l="0" t="0" r="0" b="0"/>
            </a:stretch>
          </a:blipFill>
        </p:spPr>
      </p:sp>
      <p:sp>
        <p:nvSpPr>
          <p:cNvPr name="Freeform 7" id="7"/>
          <p:cNvSpPr/>
          <p:nvPr/>
        </p:nvSpPr>
        <p:spPr>
          <a:xfrm flipH="false" flipV="false" rot="0">
            <a:off x="10069436" y="4345640"/>
            <a:ext cx="3781957" cy="5184537"/>
          </a:xfrm>
          <a:custGeom>
            <a:avLst/>
            <a:gdLst/>
            <a:ahLst/>
            <a:cxnLst/>
            <a:rect r="r" b="b" t="t" l="l"/>
            <a:pathLst>
              <a:path h="5184537" w="3781957">
                <a:moveTo>
                  <a:pt x="0" y="0"/>
                </a:moveTo>
                <a:lnTo>
                  <a:pt x="3781957" y="0"/>
                </a:lnTo>
                <a:lnTo>
                  <a:pt x="3781957" y="5184537"/>
                </a:lnTo>
                <a:lnTo>
                  <a:pt x="0" y="5184537"/>
                </a:lnTo>
                <a:lnTo>
                  <a:pt x="0" y="0"/>
                </a:lnTo>
                <a:close/>
              </a:path>
            </a:pathLst>
          </a:custGeom>
          <a:blipFill>
            <a:blip r:embed="rId10"/>
            <a:stretch>
              <a:fillRect l="0" t="0" r="0" b="0"/>
            </a:stretch>
          </a:blipFill>
        </p:spPr>
      </p:sp>
      <p:sp>
        <p:nvSpPr>
          <p:cNvPr name="TextBox 8" id="8"/>
          <p:cNvSpPr txBox="true"/>
          <p:nvPr/>
        </p:nvSpPr>
        <p:spPr>
          <a:xfrm rot="0">
            <a:off x="1028700" y="1560235"/>
            <a:ext cx="11967635" cy="920750"/>
          </a:xfrm>
          <a:prstGeom prst="rect">
            <a:avLst/>
          </a:prstGeom>
        </p:spPr>
        <p:txBody>
          <a:bodyPr anchor="t" rtlCol="false" tIns="0" lIns="0" bIns="0" rIns="0">
            <a:spAutoFit/>
          </a:bodyPr>
          <a:lstStyle/>
          <a:p>
            <a:pPr algn="l">
              <a:lnSpc>
                <a:spcPts val="7150"/>
              </a:lnSpc>
            </a:pPr>
            <a:r>
              <a:rPr lang="en-US" sz="6500" b="true">
                <a:solidFill>
                  <a:srgbClr val="000000"/>
                </a:solidFill>
                <a:latin typeface="Cormorant Garamond Bold"/>
                <a:ea typeface="Cormorant Garamond Bold"/>
                <a:cs typeface="Cormorant Garamond Bold"/>
                <a:sym typeface="Cormorant Garamond Bold"/>
              </a:rPr>
              <a:t>Training 80+ Games</a:t>
            </a:r>
          </a:p>
        </p:txBody>
      </p:sp>
      <p:sp>
        <p:nvSpPr>
          <p:cNvPr name="TextBox 9" id="9"/>
          <p:cNvSpPr txBox="true"/>
          <p:nvPr/>
        </p:nvSpPr>
        <p:spPr>
          <a:xfrm rot="0">
            <a:off x="1589335" y="767880"/>
            <a:ext cx="1640809" cy="306705"/>
          </a:xfrm>
          <a:prstGeom prst="rect">
            <a:avLst/>
          </a:prstGeom>
        </p:spPr>
        <p:txBody>
          <a:bodyPr anchor="t" rtlCol="false" tIns="0" lIns="0" bIns="0" rIns="0">
            <a:spAutoFit/>
          </a:bodyPr>
          <a:lstStyle/>
          <a:p>
            <a:pPr algn="l">
              <a:lnSpc>
                <a:spcPts val="2520"/>
              </a:lnSpc>
            </a:pPr>
            <a:r>
              <a:rPr lang="en-US" sz="1800">
                <a:solidFill>
                  <a:srgbClr val="000000"/>
                </a:solidFill>
                <a:latin typeface="PT Serif"/>
                <a:ea typeface="PT Serif"/>
                <a:cs typeface="PT Serif"/>
                <a:sym typeface="PT Serif"/>
              </a:rPr>
              <a:t>CS 4795 </a:t>
            </a:r>
          </a:p>
        </p:txBody>
      </p:sp>
      <p:sp>
        <p:nvSpPr>
          <p:cNvPr name="TextBox 10" id="10"/>
          <p:cNvSpPr txBox="true"/>
          <p:nvPr/>
        </p:nvSpPr>
        <p:spPr>
          <a:xfrm rot="0">
            <a:off x="13442517" y="741838"/>
            <a:ext cx="3816783" cy="306705"/>
          </a:xfrm>
          <a:prstGeom prst="rect">
            <a:avLst/>
          </a:prstGeom>
        </p:spPr>
        <p:txBody>
          <a:bodyPr anchor="t" rtlCol="false" tIns="0" lIns="0" bIns="0" rIns="0">
            <a:spAutoFit/>
          </a:bodyPr>
          <a:lstStyle/>
          <a:p>
            <a:pPr algn="l">
              <a:lnSpc>
                <a:spcPts val="2520"/>
              </a:lnSpc>
            </a:pPr>
            <a:r>
              <a:rPr lang="en-US" sz="1800">
                <a:solidFill>
                  <a:srgbClr val="363336"/>
                </a:solidFill>
                <a:latin typeface="PT Serif"/>
                <a:ea typeface="PT Serif"/>
                <a:cs typeface="PT Serif"/>
                <a:sym typeface="PT Serif"/>
              </a:rPr>
              <a:t>Artificial Intelligence - project</a:t>
            </a:r>
          </a:p>
        </p:txBody>
      </p:sp>
      <p:sp>
        <p:nvSpPr>
          <p:cNvPr name="TextBox 11" id="11"/>
          <p:cNvSpPr txBox="true"/>
          <p:nvPr/>
        </p:nvSpPr>
        <p:spPr>
          <a:xfrm rot="0">
            <a:off x="10069436" y="2691464"/>
            <a:ext cx="7189864" cy="1206501"/>
          </a:xfrm>
          <a:prstGeom prst="rect">
            <a:avLst/>
          </a:prstGeom>
        </p:spPr>
        <p:txBody>
          <a:bodyPr anchor="t" rtlCol="false" tIns="0" lIns="0" bIns="0" rIns="0">
            <a:spAutoFit/>
          </a:bodyPr>
          <a:lstStyle/>
          <a:p>
            <a:pPr algn="l">
              <a:lnSpc>
                <a:spcPts val="4899"/>
              </a:lnSpc>
            </a:pPr>
            <a:r>
              <a:rPr lang="en-US" sz="3499">
                <a:solidFill>
                  <a:srgbClr val="000000"/>
                </a:solidFill>
                <a:latin typeface="PT Serif"/>
                <a:ea typeface="PT Serif"/>
                <a:cs typeface="PT Serif"/>
                <a:sym typeface="PT Serif"/>
              </a:rPr>
              <a:t>Fox win rate increased from 10% to 45%</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14400"/>
            <a:ext cx="3664818" cy="1085218"/>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Cormorant Garamond Bold"/>
                <a:ea typeface="Cormorant Garamond Bold"/>
                <a:cs typeface="Cormorant Garamond Bold"/>
                <a:sym typeface="Cormorant Garamond Bold"/>
              </a:rPr>
              <a:t>Conclusion</a:t>
            </a:r>
          </a:p>
        </p:txBody>
      </p:sp>
      <p:sp>
        <p:nvSpPr>
          <p:cNvPr name="TextBox 3" id="3"/>
          <p:cNvSpPr txBox="true"/>
          <p:nvPr/>
        </p:nvSpPr>
        <p:spPr>
          <a:xfrm rot="0">
            <a:off x="1028700" y="3329211"/>
            <a:ext cx="15045617" cy="2153286"/>
          </a:xfrm>
          <a:prstGeom prst="rect">
            <a:avLst/>
          </a:prstGeom>
        </p:spPr>
        <p:txBody>
          <a:bodyPr anchor="t" rtlCol="false" tIns="0" lIns="0" bIns="0" rIns="0">
            <a:spAutoFit/>
          </a:bodyPr>
          <a:lstStyle/>
          <a:p>
            <a:pPr algn="l" marL="885178" indent="-442589" lvl="1">
              <a:lnSpc>
                <a:spcPts val="5739"/>
              </a:lnSpc>
              <a:buFont typeface="Arial"/>
              <a:buChar char="•"/>
            </a:pPr>
            <a:r>
              <a:rPr lang="en-US" sz="4099">
                <a:solidFill>
                  <a:srgbClr val="000000"/>
                </a:solidFill>
                <a:latin typeface="PT Serif"/>
                <a:ea typeface="PT Serif"/>
                <a:cs typeface="PT Serif"/>
                <a:sym typeface="PT Serif"/>
              </a:rPr>
              <a:t>AI makes decisions using search and heuristics</a:t>
            </a:r>
          </a:p>
          <a:p>
            <a:pPr algn="l" marL="885178" indent="-442589" lvl="1">
              <a:lnSpc>
                <a:spcPts val="5739"/>
              </a:lnSpc>
              <a:buFont typeface="Arial"/>
              <a:buChar char="•"/>
            </a:pPr>
            <a:r>
              <a:rPr lang="en-US" sz="4099">
                <a:solidFill>
                  <a:srgbClr val="000000"/>
                </a:solidFill>
                <a:latin typeface="PT Serif"/>
                <a:ea typeface="PT Serif"/>
                <a:cs typeface="PT Serif"/>
                <a:sym typeface="PT Serif"/>
              </a:rPr>
              <a:t>Evaluation function and logic strongly impact performance</a:t>
            </a:r>
          </a:p>
          <a:p>
            <a:pPr algn="l" marL="885178" indent="-442589" lvl="1">
              <a:lnSpc>
                <a:spcPts val="5739"/>
              </a:lnSpc>
              <a:buFont typeface="Arial"/>
              <a:buChar char="•"/>
            </a:pPr>
            <a:r>
              <a:rPr lang="en-US" sz="4099">
                <a:solidFill>
                  <a:srgbClr val="000000"/>
                </a:solidFill>
                <a:latin typeface="PT Serif"/>
                <a:ea typeface="PT Serif"/>
                <a:cs typeface="PT Serif"/>
                <a:sym typeface="PT Serif"/>
              </a:rPr>
              <a:t>Small improvements can lead to better results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052691" y="4459287"/>
            <a:ext cx="6182618" cy="1642110"/>
          </a:xfrm>
          <a:prstGeom prst="rect">
            <a:avLst/>
          </a:prstGeom>
        </p:spPr>
        <p:txBody>
          <a:bodyPr anchor="t" rtlCol="false" tIns="0" lIns="0" bIns="0" rIns="0">
            <a:spAutoFit/>
          </a:bodyPr>
          <a:lstStyle/>
          <a:p>
            <a:pPr algn="ctr">
              <a:lnSpc>
                <a:spcPts val="13439"/>
              </a:lnSpc>
              <a:spcBef>
                <a:spcPct val="0"/>
              </a:spcBef>
            </a:pPr>
            <a:r>
              <a:rPr lang="en-US" sz="9600">
                <a:solidFill>
                  <a:srgbClr val="000000"/>
                </a:solidFill>
                <a:latin typeface="PT Serif"/>
                <a:ea typeface="PT Serif"/>
                <a:cs typeface="PT Serif"/>
                <a:sym typeface="PT Serif"/>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DAHEmMs9f9c</dc:identifier>
  <dcterms:modified xsi:type="dcterms:W3CDTF">2011-08-01T06:04:30Z</dcterms:modified>
  <cp:revision>1</cp:revision>
  <dc:title>Fox and Hounds Game</dc:title>
</cp:coreProperties>
</file>